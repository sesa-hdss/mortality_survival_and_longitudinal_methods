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60" r:id="rId5"/>
    <p:sldId id="262" r:id="rId6"/>
    <p:sldId id="261" r:id="rId7"/>
    <p:sldId id="263" r:id="rId8"/>
    <p:sldId id="259" r:id="rId9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A large portion of variation is at the community level, suggesting interventions targeting locations (e.g., facility improvements) could reduce stillbirth.</a:t>
            </a: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Introduction to Multilevel model 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/>
              <a:t>Gebretsadik Shibre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195"/>
            <a:ext cx="10515600" cy="1508125"/>
          </a:xfrm>
        </p:spPr>
        <p:txBody>
          <a:bodyPr>
            <a:normAutofit/>
          </a:bodyPr>
          <a:p>
            <a:r>
              <a:rPr lang="en-US" b="1"/>
              <a:t>Talking points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810" y="1769110"/>
            <a:ext cx="10968990" cy="4938395"/>
          </a:xfrm>
        </p:spPr>
        <p:txBody>
          <a:bodyPr/>
          <a:p>
            <a:r>
              <a:rPr lang="en-US"/>
              <a:t>What is MLM?</a:t>
            </a:r>
            <a:endParaRPr lang="en-US"/>
          </a:p>
          <a:p>
            <a:endParaRPr lang="en-US"/>
          </a:p>
          <a:p>
            <a:r>
              <a:rPr lang="en-US"/>
              <a:t>When to use it?</a:t>
            </a:r>
            <a:endParaRPr lang="en-US"/>
          </a:p>
          <a:p>
            <a:endParaRPr lang="en-US"/>
          </a:p>
          <a:p>
            <a:r>
              <a:rPr lang="en-US"/>
              <a:t>Implications of MLM for social epidemiology</a:t>
            </a:r>
            <a:endParaRPr lang="en-US"/>
          </a:p>
          <a:p>
            <a:endParaRPr lang="en-US"/>
          </a:p>
          <a:p>
            <a:r>
              <a:rPr lang="en-US">
                <a:sym typeface="+mn-ea"/>
              </a:rPr>
              <a:t>Modeling MLM and interpretation of outputs </a:t>
            </a:r>
            <a:endParaRPr lang="en-US"/>
          </a:p>
          <a:p>
            <a:pPr marL="0" indent="0">
              <a:buNone/>
            </a:pPr>
            <a:endParaRPr lang="en-US"/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9215"/>
            <a:ext cx="10515600" cy="1039495"/>
          </a:xfrm>
        </p:spPr>
        <p:txBody>
          <a:bodyPr/>
          <a:p>
            <a:r>
              <a:rPr lang="en-US" b="1"/>
              <a:t>When to use MLM?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230" y="1348105"/>
            <a:ext cx="10910570" cy="5295900"/>
          </a:xfrm>
        </p:spPr>
        <p:txBody>
          <a:bodyPr/>
          <a:p>
            <a:r>
              <a:rPr lang="en-US">
                <a:sym typeface="+mn-ea"/>
              </a:rPr>
              <a:t> Clustered/nested data</a:t>
            </a:r>
            <a:endParaRPr lang="en-US"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>
                <a:sym typeface="+mn-ea"/>
              </a:rPr>
              <a:t>e.g: </a:t>
            </a:r>
            <a:endParaRPr lang="en-US"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>
                <a:sym typeface="+mn-ea"/>
              </a:rPr>
              <a:t>= Patients within HF</a:t>
            </a:r>
            <a:endParaRPr lang="en-US"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lang="en-US">
                <a:sym typeface="+mn-ea"/>
              </a:rPr>
              <a:t>= Repeated observations</a:t>
            </a:r>
            <a:endParaRPr lang="en-US"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endParaRPr lang="en-US">
              <a:sym typeface="+mn-ea"/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>
                <a:sym typeface="+mn-ea"/>
              </a:rPr>
              <a:t>Independence?</a:t>
            </a:r>
            <a:endParaRPr lang="en-US"/>
          </a:p>
          <a:p>
            <a:pPr marL="0" indent="0">
              <a:buFont typeface="Wingdings" panose="05000000000000000000" charset="0"/>
              <a:buNone/>
            </a:pPr>
            <a:endParaRPr lang="en-US"/>
          </a:p>
          <a:p>
            <a:pPr>
              <a:buFont typeface="Wingdings" panose="05000000000000000000" charset="0"/>
              <a:buChar char="ü"/>
            </a:pPr>
            <a:r>
              <a:rPr lang="en-US">
                <a:sym typeface="+mn-ea"/>
              </a:rPr>
              <a:t>Nuisance vs interesting problem</a:t>
            </a:r>
            <a:endParaRPr lang="en-US">
              <a:sym typeface="+mn-ea"/>
            </a:endParaRPr>
          </a:p>
          <a:p>
            <a:pPr>
              <a:buFont typeface="Wingdings" panose="05000000000000000000" charset="0"/>
              <a:buChar char="ü"/>
            </a:pPr>
            <a:endParaRPr lang="en-US">
              <a:sym typeface="+mn-ea"/>
            </a:endParaRPr>
          </a:p>
          <a:p>
            <a:pPr>
              <a:buFont typeface="Wingdings" panose="05000000000000000000" charset="0"/>
              <a:buChar char="ü"/>
            </a:pPr>
            <a:r>
              <a:rPr lang="en-US">
                <a:sym typeface="+mn-ea"/>
              </a:rPr>
              <a:t>Checked by ICC</a:t>
            </a:r>
            <a:endParaRPr lang="en-US"/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695" y="365125"/>
            <a:ext cx="9984105" cy="1325880"/>
          </a:xfrm>
        </p:spPr>
        <p:txBody>
          <a:bodyPr/>
          <a:p>
            <a:r>
              <a:rPr lang="en-US" b="1">
                <a:sym typeface="+mn-ea"/>
              </a:rPr>
              <a:t>When to use MLM?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62810"/>
            <a:ext cx="10515600" cy="4351338"/>
          </a:xfrm>
        </p:spPr>
        <p:txBody>
          <a:bodyPr/>
          <a:p>
            <a:r>
              <a:rPr lang="en-US"/>
              <a:t>Interested in variation/variability</a:t>
            </a:r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# of clusters?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Consequences of ignoring hierarchical data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>
                <a:sym typeface="+mn-ea"/>
              </a:rPr>
              <a:t>Underestimation VS. overestimation of SE?</a:t>
            </a:r>
            <a:endParaRPr lang="en-US">
              <a:sym typeface="+mn-ea"/>
            </a:endParaRPr>
          </a:p>
          <a:p>
            <a:pPr marL="0" indent="0">
              <a:buNone/>
            </a:pPr>
            <a:endParaRPr lang="en-US">
              <a:sym typeface="+mn-ea"/>
            </a:endParaRPr>
          </a:p>
          <a:p>
            <a:pPr marL="0" indent="0">
              <a:buNone/>
            </a:pPr>
            <a:r>
              <a:rPr lang="en-US"/>
              <a:t>= Inflated type 1 error</a:t>
            </a: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2090" y="365125"/>
            <a:ext cx="11141710" cy="1325880"/>
          </a:xfrm>
        </p:spPr>
        <p:txBody>
          <a:bodyPr/>
          <a:p>
            <a:r>
              <a:rPr lang="en-US" b="1"/>
              <a:t>How to improve interpretability of MLM outputs? 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Centering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= grand-mean centering 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= group-mean centering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Implications of MLM models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015" y="1825625"/>
            <a:ext cx="10725785" cy="4351655"/>
          </a:xfrm>
        </p:spPr>
        <p:txBody>
          <a:bodyPr/>
          <a:p>
            <a:r>
              <a:rPr lang="en-US"/>
              <a:t>Health disparity 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= </a:t>
            </a:r>
            <a:r>
              <a:rPr lang="en-US" altLang="en-US"/>
              <a:t>contextual phenomenon 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/>
              <a:t>= context-specific policy </a:t>
            </a:r>
            <a:endParaRPr lang="en-US"/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/>
              <a:t>MLM on HDSS data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/>
              <a:t>Observations are nested within a person</a:t>
            </a:r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r>
              <a:rPr lang="en-US"/>
              <a:t>Persons are nested within communities</a:t>
            </a:r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3 level MLM</a:t>
            </a:r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 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949305" cy="1325880"/>
          </a:xfrm>
        </p:spPr>
        <p:txBody>
          <a:bodyPr/>
          <a:p>
            <a:r>
              <a:rPr lang="en-US" b="1">
                <a:sym typeface="+mn-ea"/>
              </a:rPr>
              <a:t>MLM on HDSS data: interpretation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" y="1691005"/>
            <a:ext cx="10988040" cy="4486275"/>
          </a:xfrm>
        </p:spPr>
        <p:txBody>
          <a:bodyPr>
            <a:normAutofit lnSpcReduction="10000"/>
          </a:bodyPr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Variance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ICC= between variance/total variance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Proportional change in variance (PCV)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  <a:p>
            <a:pPr marL="0" indent="0">
              <a:buNone/>
            </a:pPr>
            <a:r>
              <a:rPr lang="en-US" altLang="en-US">
                <a:latin typeface="Calibri" panose="020F0502020204030204" charset="0"/>
                <a:cs typeface="Calibri" panose="020F0502020204030204" charset="0"/>
              </a:rPr>
              <a:t> = variance in null-variance in adjusted/</a:t>
            </a:r>
            <a:r>
              <a:rPr lang="en-US" altLang="en-US">
                <a:latin typeface="Calibri" panose="020F0502020204030204" charset="0"/>
                <a:cs typeface="Calibri" panose="020F0502020204030204" charset="0"/>
                <a:sym typeface="+mn-ea"/>
              </a:rPr>
              <a:t>variance in null </a:t>
            </a:r>
            <a:endParaRPr lang="en-US" altLang="en-US">
              <a:latin typeface="Calibri" panose="020F0502020204030204" charset="0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   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>
                <a:sym typeface="+mn-ea"/>
              </a:rPr>
              <a:t>                             </a:t>
            </a:r>
            <a:r>
              <a:rPr lang="en-US" b="1">
                <a:sym typeface="+mn-ea"/>
              </a:rPr>
              <a:t>  Any questions?</a:t>
            </a:r>
            <a:endParaRPr lang="en-US"/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1014</Words>
  <Application>WPS Presentation</Application>
  <PresentationFormat>Widescreen</PresentationFormat>
  <Paragraphs>93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SimSun</vt:lpstr>
      <vt:lpstr>Wingdings</vt:lpstr>
      <vt:lpstr>Wingdings</vt:lpstr>
      <vt:lpstr>Consolas</vt:lpstr>
      <vt:lpstr>Calibri Light</vt:lpstr>
      <vt:lpstr>Calibri</vt:lpstr>
      <vt:lpstr>Microsoft YaHei</vt:lpstr>
      <vt:lpstr>Arial Unicode MS</vt:lpstr>
      <vt:lpstr>Office Theme</vt:lpstr>
      <vt:lpstr>Introduction to Multilevel model </vt:lpstr>
      <vt:lpstr>Talking points</vt:lpstr>
      <vt:lpstr>When to use MLM?</vt:lpstr>
      <vt:lpstr>When to use MLM?</vt:lpstr>
      <vt:lpstr>Consequences of ignoring hierarchical data</vt:lpstr>
      <vt:lpstr>How to improve interpretability of MLM outputs? </vt:lpstr>
      <vt:lpstr>Implications of MLM models</vt:lpstr>
      <vt:lpstr>MLM on HDSS data</vt:lpstr>
      <vt:lpstr>MLM on HDSS data: interpretation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Gebretsadik S</dc:creator>
  <cp:lastModifiedBy>Gebretsadik S</cp:lastModifiedBy>
  <cp:revision>79</cp:revision>
  <dcterms:created xsi:type="dcterms:W3CDTF">2025-07-23T00:59:00Z</dcterms:created>
  <dcterms:modified xsi:type="dcterms:W3CDTF">2025-11-20T15:03:56Z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6EAC9B01115747D7A930A8B66DEB89B9_11</vt:lpwstr>
  </property>
  <property fmtid="{D5CDD505-2E9C-101B-9397-08002B2CF9AE}" pid="3" name="KSOProductBuildVer">
    <vt:lpwstr>1033-12.2.0.23158</vt:lpwstr>
  </property>
</Properties>
</file>