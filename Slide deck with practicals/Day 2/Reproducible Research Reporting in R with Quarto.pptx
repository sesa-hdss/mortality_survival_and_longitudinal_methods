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91" r:id="rId3"/>
    <p:sldId id="292" r:id="rId4"/>
    <p:sldId id="300" r:id="rId5"/>
    <p:sldId id="299" r:id="rId6"/>
    <p:sldId id="301" r:id="rId7"/>
    <p:sldId id="293" r:id="rId8"/>
    <p:sldId id="302" r:id="rId9"/>
    <p:sldId id="303" r:id="rId10"/>
    <p:sldId id="304" r:id="rId11"/>
    <p:sldId id="294" r:id="rId12"/>
    <p:sldId id="306" r:id="rId13"/>
    <p:sldId id="305" r:id="rId14"/>
    <p:sldId id="295" r:id="rId15"/>
    <p:sldId id="298" r:id="rId16"/>
    <p:sldId id="30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2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F6E4-8892-7840-EAD9-8E6764E8B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F65A2-2292-AFBC-EBF2-10EF2B6BB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18FD1-2260-F9AD-FE47-B2FDE4FC6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B3F56-D674-464A-8E0C-346B3B695DC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C5880-4790-B9F7-433B-332C7C9F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E8D37-D4E3-F0CA-458B-E3091C73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98CE-8DA1-42D8-B435-8FCE59B16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11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A3CBB-962B-C93E-51A0-E719BCEF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8E34F-2364-3047-515B-26311E017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B0764-858E-2AB6-CC8B-8AE72ED60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B3F56-D674-464A-8E0C-346B3B695DC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FBEDF-23F5-D88E-7830-1A8476345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4F317-5A1A-7234-E2F5-06AC3AE1E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98CE-8DA1-42D8-B435-8FCE59B16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00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B9FD3-9E85-EE77-280D-666E35525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104A6-6D61-842A-2BEB-D78FECAA6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E288D-43CD-74AC-9FEF-B3D7C984F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B3F56-D674-464A-8E0C-346B3B695DC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4CC0E-1E75-D021-D060-0E98D7CA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30C41-049B-3D91-F151-310668138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98CE-8DA1-42D8-B435-8FCE59B16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291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17F2B-9D0F-ECFB-A02E-52EC4F0BB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14EE9-CC19-37B5-D917-519E6AE5E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3A5E4-42C5-B0F3-06AA-305CF05C5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0B36B-81EF-D10A-16A7-E167AE007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B3F56-D674-464A-8E0C-346B3B695DC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1E281-D5B5-2142-8A1F-E58F8AD9E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2C5A6-CC27-258F-0F05-C6C42F334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98CE-8DA1-42D8-B435-8FCE59B16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40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2FEE5-F246-6523-C85C-0A7C514B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C00F8-FA36-AB88-17A0-F41C18B8B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43E27-029E-BD53-196A-9DA7155BA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4EBCF-89DB-C622-6504-CD9FAF3C88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13D160-2D47-F507-0D61-B70CBE276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379F51-D5D6-D5D8-0992-1AF102BEE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B3F56-D674-464A-8E0C-346B3B695DC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308F9-04DC-1A79-C1C9-2AA9F2DB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C9623C-1CE5-CD73-16FB-706F56061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98CE-8DA1-42D8-B435-8FCE59B16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07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1C51-F67C-9607-C4CF-49ABB1C2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8EBFC3-08F7-AB79-FF52-85885F20B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B3F56-D674-464A-8E0C-346B3B695DC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29A18E-76CC-F963-2370-B709E13A5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8E9DF-9041-2628-39EA-2831111A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98CE-8DA1-42D8-B435-8FCE59B16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11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D023CE-8978-B30F-D30D-E7A182F21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B3F56-D674-464A-8E0C-346B3B695DC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B9BD5-4B9A-8F9F-1A30-D0A6EBE65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BDA64-E081-7E27-1594-A9393E462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98CE-8DA1-42D8-B435-8FCE59B16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254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6D70-0FB3-3577-CE2E-A7C609180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D6E99-4EEB-A49C-F412-24218050E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369A9-A70F-4B6D-ED7C-6D3D85B1A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706D1-D890-AF48-13CD-E9138ECB3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B3F56-D674-464A-8E0C-346B3B695DC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EB57B-3898-98C7-8087-BB41FA4AD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935B2-EC41-5F8A-A621-3E9C8143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98CE-8DA1-42D8-B435-8FCE59B16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70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1986F-D7C0-31B2-260B-56F122382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A20A8C-A98A-58C3-C89C-0AC277FF6C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EF4C3-644C-E5C9-4A32-6C76AA34D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FDC33-6D5D-4502-242A-E8D8FDC33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B3F56-D674-464A-8E0C-346B3B695DC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1A78B-2BCF-6F5B-9D7F-79DC0EE4E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F6D18-D5E8-81A3-01B6-873EA2DC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98CE-8DA1-42D8-B435-8FCE59B16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8879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0DD8-1C1A-FE63-07A7-8D9DB5C3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9307AD-C9C1-1CEB-3059-A4C55D924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01C14-EA9A-0F39-4364-1917B8A34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B3F56-D674-464A-8E0C-346B3B695DC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45957-2006-4218-5EC5-C6B3F64A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0FF8F-0357-3785-E1A1-2441F3A3F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98CE-8DA1-42D8-B435-8FCE59B16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73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AF7AEB-2ED5-0C39-2E1F-E48910657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13C36-9D73-2B9B-5AC9-0D021751B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3A174-29A4-7A57-AF95-96F51CEA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B3F56-D674-464A-8E0C-346B3B695DC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A4011-3F62-7B1D-B8F7-EC157E02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E16AA-D10D-76DD-693F-10088732F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98CE-8DA1-42D8-B435-8FCE59B16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893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9428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_Column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91919"/>
            <a:ext cx="6815667" cy="4807281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Corbel" panose="020B0503020204020204" pitchFamily="34" charset="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1491919"/>
            <a:ext cx="4011084" cy="4807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latin typeface="Corbel" panose="020B0503020204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fontAlgn="t"/>
            <a:r>
              <a:rPr lang="en-US" sz="24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24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79132"/>
            <a:ext cx="9472691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256" y="6356351"/>
            <a:ext cx="27423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5BBFC-F8AB-4F99-B558-DEBF12561351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065" y="6356351"/>
            <a:ext cx="41158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571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CB826F-305B-B5E4-B420-4B3ED6B43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645-FAC1-9ED3-93C6-EBC439BD9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3A4FA-11EC-F5F1-54E6-EF489E4DF6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DB3F56-D674-464A-8E0C-346B3B695DC2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2FDEC-5EAA-0BC6-C7FD-782AAC0E0A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038C2-C53C-13EC-1B76-4F142B957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0098CE-8DA1-42D8-B435-8FCE59B16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0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2296-3675-1A04-23A6-8517BFD99E2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90749" y="874327"/>
            <a:ext cx="7810500" cy="18208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Reproducible Research Reporting in R with Markdown - Quarto</a:t>
            </a:r>
            <a:endParaRPr lang="en-US" sz="3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682DE2-A9C4-BB08-6D97-6776C57664CF}"/>
              </a:ext>
            </a:extLst>
          </p:cNvPr>
          <p:cNvSpPr txBox="1"/>
          <p:nvPr/>
        </p:nvSpPr>
        <p:spPr>
          <a:xfrm>
            <a:off x="2989610" y="5319961"/>
            <a:ext cx="59903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Constantia" panose="02030602050306030303" pitchFamily="18" charset="0"/>
              </a:rPr>
              <a:t>By: Yohanis Alemeshet</a:t>
            </a:r>
          </a:p>
          <a:p>
            <a:pPr algn="ctr"/>
            <a:endParaRPr lang="en-GB" sz="2000" dirty="0">
              <a:solidFill>
                <a:schemeClr val="bg1"/>
              </a:solidFill>
              <a:latin typeface="Constantia" panose="02030602050306030303" pitchFamily="18" charset="0"/>
            </a:endParaRPr>
          </a:p>
          <a:p>
            <a:pPr algn="ctr"/>
            <a:endParaRPr lang="en-GB" sz="2000" dirty="0">
              <a:solidFill>
                <a:schemeClr val="bg1"/>
              </a:solidFill>
              <a:latin typeface="Constantia" panose="02030602050306030303" pitchFamily="18" charset="0"/>
            </a:endParaRPr>
          </a:p>
          <a:p>
            <a:pPr algn="ctr"/>
            <a:endParaRPr lang="en-GB" sz="20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BB533E-8640-4343-11C2-CC3603BAC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044" y="2434025"/>
            <a:ext cx="2987912" cy="198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195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9B3B73-513B-327E-7F85-20DE34F64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0388" y="1491920"/>
            <a:ext cx="2130584" cy="4807281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DE6C6-EA4F-CE2E-2C50-06A2817A6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1030" y="1491920"/>
            <a:ext cx="7193438" cy="4807281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Why Markdown?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Understanding the anatomy of Quarto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Markdown essentials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Figures and tables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Static Vs Interactive plots</a:t>
            </a:r>
            <a:endParaRPr lang="en-US" sz="32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8B00FF-CA0A-E2B9-9977-60F75260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348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D7BE298-25B1-5B9E-99CD-B1987C667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2CF345-14AF-E769-46F6-F7C30ECE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0388" y="1491920"/>
            <a:ext cx="2130584" cy="4807281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0E4F9-C44C-43DB-CEF4-FE163A7EE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1030" y="1491920"/>
            <a:ext cx="10148410" cy="4807281"/>
          </a:xfrm>
        </p:spPr>
        <p:txBody>
          <a:bodyPr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 basic Markdown syntax (headings, lists, emphasis) in a Quarto document.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Create and run R code chunks inside Quarto.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Produce tables and figures suitable for inclusion in a manuscript.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Add citations, cross-references, and a bibliography.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Render the same report to multiple formats (HTML, PDF, Word).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Apply a simple workflow to create publication-ready reports from 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361BE4-05DE-B9F1-54A0-F6DD9197F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8026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2B2F3A-5980-8F5B-403B-453B6DFCD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1" y="1491919"/>
            <a:ext cx="10617200" cy="480728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Markdown is a simple markup language for formatting plain text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Headings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Lists,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Links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Bold, italics,  etc. . . that can be rendered to HTML, PDF, Word, and more.</a:t>
            </a:r>
            <a:endParaRPr lang="en-GB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C741D1-B3BA-CF50-6C22-F2CF7B90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Markdown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4665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198996-50EB-ED89-3EA2-B2D149FC2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1" y="1532559"/>
            <a:ext cx="8524239" cy="4858081"/>
          </a:xfrm>
        </p:spPr>
        <p:txBody>
          <a:bodyPr/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Analyses are often done in R, but results are copied manually into Word/PowerPoint.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This manual process is slow, error-prone, and hard to reproduce.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B0F0"/>
                </a:solidFill>
                <a:latin typeface="Arial" panose="020B0604020202020204" pitchFamily="34" charset="0"/>
              </a:rPr>
              <a:t>Quarto</a:t>
            </a:r>
            <a:r>
              <a:rPr lang="en-US" altLang="en-US" dirty="0">
                <a:latin typeface="Arial" panose="020B0604020202020204" pitchFamily="34" charset="0"/>
              </a:rPr>
              <a:t>/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R-markdown</a:t>
            </a:r>
            <a:r>
              <a:rPr lang="en-US" altLang="en-US" dirty="0">
                <a:latin typeface="Arial" panose="020B0604020202020204" pitchFamily="34" charset="0"/>
              </a:rPr>
              <a:t> lets you combine code, text, tables, and figures in one document.</a:t>
            </a:r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1EFFD9-FFF3-8E8A-338F-7CCA69BED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reproducible reporting</a:t>
            </a:r>
            <a:endParaRPr lang="en-GB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C81B73C-C42D-152E-1D31-91E727500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600" y="1369846"/>
            <a:ext cx="3853383" cy="256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986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F6D997-68E8-85FE-F771-F4BEDEC4F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Quarto</a:t>
            </a:r>
            <a:endParaRPr lang="en-GB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6CA9CF7-2520-D239-182C-0FC8DBEBE3B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300024" y="2023900"/>
            <a:ext cx="684784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Quarto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next-generation, open-source framework for reproducible publishing.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 supports R, Python, Julia, and multiple output formats.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you’ve used R Markdown: Quarto is its modern successor with more features, but the core ideas are the same.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1CDA75-077B-23CC-DC5F-5EB1B14FE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864" y="1400653"/>
            <a:ext cx="4744112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37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16E28A-394C-FAA6-5ACC-5D7B6BD8F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F00FB-3D67-DAF6-E6EA-B607F7445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365033-37E6-F16B-1F23-63A7F575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 markdown Vs Quarto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018387-E39B-170C-A7BE-4D47E0783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34" y="1341853"/>
            <a:ext cx="6246606" cy="41742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2459E4-DBCE-FC55-3936-779612E9E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590" y="1387415"/>
            <a:ext cx="5627279" cy="421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14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44509A-3B21-8A4F-91E6-56BF92FE4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1" y="2321642"/>
            <a:ext cx="8817428" cy="48072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Metadata</a:t>
            </a:r>
            <a:r>
              <a:rPr lang="en-US" dirty="0"/>
              <a:t> of our document.</a:t>
            </a:r>
          </a:p>
          <a:p>
            <a:pPr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What kind of document are you creating (HTML, PDF, Word, slides)</a:t>
            </a:r>
          </a:p>
          <a:p>
            <a:pPr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Document title, author, date</a:t>
            </a:r>
          </a:p>
          <a:p>
            <a:pPr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Formatting options (themes, layout, toc, code folding, highlighting)</a:t>
            </a:r>
          </a:p>
          <a:p>
            <a:pPr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Bibliography and citations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5364D-225E-F7B5-E31A-4EBE05EC9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371601"/>
            <a:ext cx="6990079" cy="623236"/>
          </a:xfrm>
        </p:spPr>
        <p:txBody>
          <a:bodyPr>
            <a:normAutofit/>
          </a:bodyPr>
          <a:lstStyle/>
          <a:p>
            <a:r>
              <a:rPr lang="en-US" sz="3200" b="1" dirty="0"/>
              <a:t>YAML header</a:t>
            </a:r>
            <a:endParaRPr lang="en-GB" sz="32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F6CD87-2035-A888-2A59-4333F5A49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Anatomy of Quarto</a:t>
            </a:r>
            <a:endParaRPr lang="en-GB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B40A72-311B-8310-62B3-32B8A390E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052" y="1072417"/>
            <a:ext cx="8377646" cy="170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8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FE20D4-2F59-008D-0C11-949EE65C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F405C-2B13-8296-8415-3B0C06213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10" y="1491918"/>
            <a:ext cx="4449474" cy="4807281"/>
          </a:xfrm>
        </p:spPr>
        <p:txBody>
          <a:bodyPr/>
          <a:lstStyle/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Code chunk begins with {R}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Optional chunk option in YAML style   </a:t>
            </a:r>
            <a:r>
              <a:rPr lang="en-GB" b="1" dirty="0">
                <a:solidFill>
                  <a:srgbClr val="00B050"/>
                </a:solidFill>
              </a:rPr>
              <a:t>#|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F35A93-1448-BE4C-A4DE-E47F2CFA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chunks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025DC6-99D5-CA13-FD6D-C22DEC3C8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198" y="1491917"/>
            <a:ext cx="7250482" cy="193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507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8437AC-A0AF-F752-A557-A78DE9307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76A4A-8874-FACF-6CAD-3384E6529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4CDF0E-80F8-476D-0C62-6F463A37F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Quarto works?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DF801E-F820-A95D-F9ED-474AA9730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637" y="1491919"/>
            <a:ext cx="8852655" cy="16898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BA51E-5201-936C-8CA6-679BD6AC4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291" y="3756809"/>
            <a:ext cx="7151342" cy="123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33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2E6102-8570-C386-4132-819B29147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52E18E-DCBC-BAD2-7301-0D426147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Markdown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95373B-5939-E1C5-89E1-18883DB8A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712" y="1209040"/>
            <a:ext cx="7667488" cy="559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064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824462-6D82-FFD7-347B-3F39243C1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05CD7-72CE-1231-96D8-785064B66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17E678-B329-D347-9895-5C9DADE65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Markdown . . . .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56340-BB29-6846-9724-1D587860E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887" y="1341742"/>
            <a:ext cx="8411354" cy="495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313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80F84F-DE9D-C522-0FA4-E6CCD2554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928C6-44E8-8AE1-7B72-9EE9CA1E6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134435-C7FA-5C04-3C68-A280C6AC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3C7AF-F93D-0239-FEAB-D37595F81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2637"/>
            <a:ext cx="6393199" cy="12449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918822-9E57-5A99-A45F-E77347B8B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824" y="3242404"/>
            <a:ext cx="6410164" cy="1244992"/>
          </a:xfrm>
          <a:prstGeom prst="rect">
            <a:avLst/>
          </a:prstGeom>
        </p:spPr>
      </p:pic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8862026E-E388-B58A-B313-D45F0BDAE561}"/>
              </a:ext>
            </a:extLst>
          </p:cNvPr>
          <p:cNvSpPr/>
          <p:nvPr/>
        </p:nvSpPr>
        <p:spPr>
          <a:xfrm rot="1703497">
            <a:off x="3606826" y="3243708"/>
            <a:ext cx="2001795" cy="586946"/>
          </a:xfrm>
          <a:prstGeom prst="curved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276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B8B4C1-1253-A40D-6B58-364AC6AA9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35D34-8D7E-F268-25CC-2AC97AFC9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8EAF53-6021-CECF-3A5E-697572B10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B43290-9210-9EDD-DB72-C89AC167B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57" y="84624"/>
            <a:ext cx="9745435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32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704253-0929-87DE-2B37-D386F256A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6551" y="1491919"/>
            <a:ext cx="1795849" cy="4807281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A8E37-37B3-C364-53ED-00EF01F65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491919"/>
            <a:ext cx="8336691" cy="480728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Using the </a:t>
            </a:r>
            <a:r>
              <a:rPr lang="en-US" dirty="0" err="1"/>
              <a:t>Gapminder</a:t>
            </a:r>
            <a:r>
              <a:rPr lang="en-US" dirty="0"/>
              <a:t> dataset, create a table of life expectancy by GDP per capita for sub-Saharan Africa.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Add the visualisation of the life expectancy of Ethiopia from 1952 to 2007 using a line graph.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1A5031-9EF8-D4AE-88B9-DB06FB89D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350082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A31D4-8070-7FCF-9E1B-0F3CB9BAB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491919"/>
            <a:ext cx="8633253" cy="4807281"/>
          </a:xfrm>
        </p:spPr>
        <p:txBody>
          <a:bodyPr>
            <a:normAutofit/>
          </a:bodyPr>
          <a:lstStyle/>
          <a:p>
            <a:endParaRPr lang="en-US" sz="3600" b="1" dirty="0"/>
          </a:p>
          <a:p>
            <a:endParaRPr lang="en-US" sz="3600" b="1" dirty="0"/>
          </a:p>
          <a:p>
            <a:pPr algn="ctr"/>
            <a:r>
              <a:rPr lang="en-US" sz="3600" b="1" dirty="0"/>
              <a:t>Thank You!</a:t>
            </a:r>
            <a:endParaRPr lang="en-GB" sz="3600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84C668-873F-7861-D038-065F3ED23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449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2948</TotalTime>
  <Words>367</Words>
  <Application>Microsoft Office PowerPoint</Application>
  <PresentationFormat>Widescreen</PresentationFormat>
  <Paragraphs>51</Paragraphs>
  <Slides>16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Constantia</vt:lpstr>
      <vt:lpstr>Corbel</vt:lpstr>
      <vt:lpstr>open sans</vt:lpstr>
      <vt:lpstr>Wingdings</vt:lpstr>
      <vt:lpstr>Office Theme</vt:lpstr>
      <vt:lpstr>Reproducible Research Reporting in R with Markdown - Quarto</vt:lpstr>
      <vt:lpstr>Outline</vt:lpstr>
      <vt:lpstr>PowerPoint Presentation</vt:lpstr>
      <vt:lpstr>What is Markdown</vt:lpstr>
      <vt:lpstr>Why reproducible reporting</vt:lpstr>
      <vt:lpstr>Quarto</vt:lpstr>
      <vt:lpstr>R markdown Vs Quarto</vt:lpstr>
      <vt:lpstr>Anatomy of Quarto</vt:lpstr>
      <vt:lpstr>Code chunks</vt:lpstr>
      <vt:lpstr>How Quarto works?</vt:lpstr>
      <vt:lpstr>Basic Markdown</vt:lpstr>
      <vt:lpstr>Basic Markdown . . . .</vt:lpstr>
      <vt:lpstr>Links</vt:lpstr>
      <vt:lpstr>PowerPoint Presentation</vt:lpstr>
      <vt:lpstr>Exercise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Yohanis Alemeshet Asefa</dc:creator>
  <cp:lastModifiedBy>Yohanis Alemeshet Asefa</cp:lastModifiedBy>
  <cp:revision>20</cp:revision>
  <dcterms:created xsi:type="dcterms:W3CDTF">2025-11-17T04:44:43Z</dcterms:created>
  <dcterms:modified xsi:type="dcterms:W3CDTF">2025-11-19T05:54:19Z</dcterms:modified>
</cp:coreProperties>
</file>