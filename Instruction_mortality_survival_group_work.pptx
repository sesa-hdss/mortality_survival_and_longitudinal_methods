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407E0-92BF-7440-B772-305508030928}" v="4" dt="2025-11-17T12:47:51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16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e Tadesse" userId="88c8e3ba-9c38-49e5-89bc-c0517578fd90" providerId="ADAL" clId="{67A1ECE3-96F5-5F67-A636-F5D6DBE10CD7}"/>
    <pc:docChg chg="undo custSel addSld delSld modSld">
      <pc:chgData name="Amare Tadesse" userId="88c8e3ba-9c38-49e5-89bc-c0517578fd90" providerId="ADAL" clId="{67A1ECE3-96F5-5F67-A636-F5D6DBE10CD7}" dt="2025-11-17T12:48:11.688" v="310" actId="207"/>
      <pc:docMkLst>
        <pc:docMk/>
      </pc:docMkLst>
      <pc:sldChg chg="modSp mod">
        <pc:chgData name="Amare Tadesse" userId="88c8e3ba-9c38-49e5-89bc-c0517578fd90" providerId="ADAL" clId="{67A1ECE3-96F5-5F67-A636-F5D6DBE10CD7}" dt="2025-11-17T08:18:21.172" v="116" actId="20577"/>
        <pc:sldMkLst>
          <pc:docMk/>
          <pc:sldMk cId="0" sldId="256"/>
        </pc:sldMkLst>
        <pc:spChg chg="mod">
          <ac:chgData name="Amare Tadesse" userId="88c8e3ba-9c38-49e5-89bc-c0517578fd90" providerId="ADAL" clId="{67A1ECE3-96F5-5F67-A636-F5D6DBE10CD7}" dt="2025-11-17T08:18:21.172" v="11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08:42:58.671" v="242" actId="20577"/>
        <pc:sldMkLst>
          <pc:docMk/>
          <pc:sldMk cId="0" sldId="257"/>
        </pc:sldMkLst>
        <pc:spChg chg="mod">
          <ac:chgData name="Amare Tadesse" userId="88c8e3ba-9c38-49e5-89bc-c0517578fd90" providerId="ADAL" clId="{67A1ECE3-96F5-5F67-A636-F5D6DBE10CD7}" dt="2025-11-17T08:35:46.988" v="20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08:42:58.671" v="24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08:35:57.897" v="211" actId="20577"/>
        <pc:sldMkLst>
          <pc:docMk/>
          <pc:sldMk cId="0" sldId="258"/>
        </pc:sldMkLst>
        <pc:spChg chg="mod">
          <ac:chgData name="Amare Tadesse" userId="88c8e3ba-9c38-49e5-89bc-c0517578fd90" providerId="ADAL" clId="{67A1ECE3-96F5-5F67-A636-F5D6DBE10CD7}" dt="2025-11-17T08:35:57.897" v="211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08:18:29.137" v="119" actId="40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08:36:05.464" v="213" actId="20577"/>
        <pc:sldMkLst>
          <pc:docMk/>
          <pc:sldMk cId="0" sldId="259"/>
        </pc:sldMkLst>
        <pc:spChg chg="mod">
          <ac:chgData name="Amare Tadesse" userId="88c8e3ba-9c38-49e5-89bc-c0517578fd90" providerId="ADAL" clId="{67A1ECE3-96F5-5F67-A636-F5D6DBE10CD7}" dt="2025-11-17T08:36:05.464" v="21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08:18:37.676" v="122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11:02:57.994" v="243" actId="20577"/>
        <pc:sldMkLst>
          <pc:docMk/>
          <pc:sldMk cId="0" sldId="260"/>
        </pc:sldMkLst>
        <pc:spChg chg="mod">
          <ac:chgData name="Amare Tadesse" userId="88c8e3ba-9c38-49e5-89bc-c0517578fd90" providerId="ADAL" clId="{67A1ECE3-96F5-5F67-A636-F5D6DBE10CD7}" dt="2025-11-17T11:02:57.994" v="24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08:19:34.148" v="133" actId="579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11:03:03.669" v="244" actId="20577"/>
        <pc:sldMkLst>
          <pc:docMk/>
          <pc:sldMk cId="0" sldId="261"/>
        </pc:sldMkLst>
        <pc:spChg chg="mod">
          <ac:chgData name="Amare Tadesse" userId="88c8e3ba-9c38-49e5-89bc-c0517578fd90" providerId="ADAL" clId="{67A1ECE3-96F5-5F67-A636-F5D6DBE10CD7}" dt="2025-11-17T11:03:03.669" v="24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08:20:40.481" v="140" actId="5793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12:47:26.764" v="283" actId="255"/>
        <pc:sldMkLst>
          <pc:docMk/>
          <pc:sldMk cId="0" sldId="262"/>
        </pc:sldMkLst>
        <pc:spChg chg="mod">
          <ac:chgData name="Amare Tadesse" userId="88c8e3ba-9c38-49e5-89bc-c0517578fd90" providerId="ADAL" clId="{67A1ECE3-96F5-5F67-A636-F5D6DBE10CD7}" dt="2025-11-17T12:47:13.385" v="277" actId="21"/>
          <ac:spMkLst>
            <pc:docMk/>
            <pc:sldMk cId="0" sldId="262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12:47:26.764" v="283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mare Tadesse" userId="88c8e3ba-9c38-49e5-89bc-c0517578fd90" providerId="ADAL" clId="{67A1ECE3-96F5-5F67-A636-F5D6DBE10CD7}" dt="2025-11-17T12:06:17.667" v="260" actId="20577"/>
        <pc:sldMkLst>
          <pc:docMk/>
          <pc:sldMk cId="0" sldId="263"/>
        </pc:sldMkLst>
        <pc:spChg chg="mod">
          <ac:chgData name="Amare Tadesse" userId="88c8e3ba-9c38-49e5-89bc-c0517578fd90" providerId="ADAL" clId="{67A1ECE3-96F5-5F67-A636-F5D6DBE10CD7}" dt="2025-11-17T11:03:42.943" v="257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12:06:17.667" v="260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Amare Tadesse" userId="88c8e3ba-9c38-49e5-89bc-c0517578fd90" providerId="ADAL" clId="{67A1ECE3-96F5-5F67-A636-F5D6DBE10CD7}" dt="2025-11-17T07:17:27.530" v="0" actId="2696"/>
        <pc:sldMkLst>
          <pc:docMk/>
          <pc:sldMk cId="0" sldId="264"/>
        </pc:sldMkLst>
      </pc:sldChg>
      <pc:sldChg chg="del">
        <pc:chgData name="Amare Tadesse" userId="88c8e3ba-9c38-49e5-89bc-c0517578fd90" providerId="ADAL" clId="{67A1ECE3-96F5-5F67-A636-F5D6DBE10CD7}" dt="2025-11-17T07:17:28.410" v="1" actId="2696"/>
        <pc:sldMkLst>
          <pc:docMk/>
          <pc:sldMk cId="0" sldId="265"/>
        </pc:sldMkLst>
      </pc:sldChg>
      <pc:sldChg chg="modSp mod">
        <pc:chgData name="Amare Tadesse" userId="88c8e3ba-9c38-49e5-89bc-c0517578fd90" providerId="ADAL" clId="{67A1ECE3-96F5-5F67-A636-F5D6DBE10CD7}" dt="2025-11-17T08:37:54.563" v="229" actId="20577"/>
        <pc:sldMkLst>
          <pc:docMk/>
          <pc:sldMk cId="0" sldId="266"/>
        </pc:sldMkLst>
        <pc:spChg chg="mod">
          <ac:chgData name="Amare Tadesse" userId="88c8e3ba-9c38-49e5-89bc-c0517578fd90" providerId="ADAL" clId="{67A1ECE3-96F5-5F67-A636-F5D6DBE10CD7}" dt="2025-11-17T08:37:54.563" v="229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Amare Tadesse" userId="88c8e3ba-9c38-49e5-89bc-c0517578fd90" providerId="ADAL" clId="{67A1ECE3-96F5-5F67-A636-F5D6DBE10CD7}" dt="2025-11-17T08:24:22.475" v="200" actId="5793"/>
          <ac:spMkLst>
            <pc:docMk/>
            <pc:sldMk cId="0" sldId="266"/>
            <ac:spMk id="3" creationId="{00000000-0000-0000-0000-000000000000}"/>
          </ac:spMkLst>
        </pc:spChg>
      </pc:sldChg>
      <pc:sldChg chg="modSp add mod">
        <pc:chgData name="Amare Tadesse" userId="88c8e3ba-9c38-49e5-89bc-c0517578fd90" providerId="ADAL" clId="{67A1ECE3-96F5-5F67-A636-F5D6DBE10CD7}" dt="2025-11-17T12:48:11.688" v="310" actId="207"/>
        <pc:sldMkLst>
          <pc:docMk/>
          <pc:sldMk cId="759760663" sldId="267"/>
        </pc:sldMkLst>
        <pc:spChg chg="mod">
          <ac:chgData name="Amare Tadesse" userId="88c8e3ba-9c38-49e5-89bc-c0517578fd90" providerId="ADAL" clId="{67A1ECE3-96F5-5F67-A636-F5D6DBE10CD7}" dt="2025-11-17T12:48:11.688" v="310" actId="207"/>
          <ac:spMkLst>
            <pc:docMk/>
            <pc:sldMk cId="759760663" sldId="267"/>
            <ac:spMk id="3" creationId="{F03EDDB3-08E5-5269-463A-1EB80539BB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Mortality &amp; Survival Analysis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Group work on</a:t>
            </a:r>
          </a:p>
          <a:p>
            <a:r>
              <a:rPr lang="en-GB" dirty="0"/>
              <a:t>Analysis using HDSS data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Give hands-on experience with mortality rates, survival analysis, and multilevel models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lang="en-GB" sz="2800" dirty="0"/>
              <a:t>Practice </a:t>
            </a:r>
            <a:r>
              <a:rPr sz="2800" dirty="0"/>
              <a:t>data cleaning, person-time calculation, KM curves, Cox models, and multilevel models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Produce reproducible outputs and interpretation for each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Dataset: Key </a:t>
            </a:r>
            <a:r>
              <a:rPr lang="en-GB" dirty="0"/>
              <a:t>v</a:t>
            </a:r>
            <a:r>
              <a:rPr dirty="0" err="1"/>
              <a:t>ariables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Unique ID</a:t>
            </a:r>
            <a:endParaRPr lang="en-GB" sz="2800" dirty="0"/>
          </a:p>
          <a:p>
            <a:pPr>
              <a:defRPr sz="1800"/>
            </a:pPr>
            <a:r>
              <a:rPr sz="2800" dirty="0"/>
              <a:t>Sex</a:t>
            </a:r>
            <a:endParaRPr lang="en-GB" sz="2800" dirty="0"/>
          </a:p>
          <a:p>
            <a:pPr>
              <a:defRPr sz="1800"/>
            </a:pPr>
            <a:r>
              <a:rPr sz="2800" dirty="0"/>
              <a:t>Date of birth</a:t>
            </a:r>
            <a:endParaRPr lang="en-GB" sz="2800" dirty="0"/>
          </a:p>
          <a:p>
            <a:pPr>
              <a:defRPr sz="1800"/>
            </a:pPr>
            <a:r>
              <a:rPr lang="en-GB" sz="2800" dirty="0"/>
              <a:t>Date of last observation (</a:t>
            </a:r>
            <a:r>
              <a:rPr sz="2800" dirty="0"/>
              <a:t>End date</a:t>
            </a:r>
            <a:r>
              <a:rPr lang="en-GB" sz="2800" dirty="0"/>
              <a:t>)</a:t>
            </a:r>
          </a:p>
          <a:p>
            <a:pPr>
              <a:defRPr sz="1800"/>
            </a:pPr>
            <a:r>
              <a:rPr sz="2800" dirty="0"/>
              <a:t>End type/event</a:t>
            </a:r>
            <a:r>
              <a:rPr lang="en-GB" sz="2800" dirty="0"/>
              <a:t> (Death, Out migration, Active)</a:t>
            </a:r>
          </a:p>
          <a:p>
            <a:pPr>
              <a:defRPr sz="1800"/>
            </a:pPr>
            <a:r>
              <a:rPr sz="2800" dirty="0"/>
              <a:t>Place of residence (if available)</a:t>
            </a:r>
          </a:p>
          <a:p>
            <a:pPr>
              <a:defRPr sz="1800"/>
            </a:pPr>
            <a:r>
              <a:rPr sz="2800" dirty="0"/>
              <a:t>Derived variables: age at exit, person-time, event indicator, calendar period (month/year)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</a:t>
            </a:r>
            <a:r>
              <a:rPr lang="en-GB" dirty="0"/>
              <a:t>p</a:t>
            </a:r>
            <a:r>
              <a:rPr dirty="0"/>
              <a:t>reparation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Check Unique ID for duplicates and missing</a:t>
            </a:r>
          </a:p>
          <a:p>
            <a:pPr>
              <a:defRPr sz="1800"/>
            </a:pPr>
            <a:r>
              <a:rPr sz="2800" dirty="0"/>
              <a:t>Standardize Sex coding; convert date fields to Date type</a:t>
            </a:r>
          </a:p>
          <a:p>
            <a:pPr>
              <a:defRPr sz="1800"/>
            </a:pPr>
            <a:r>
              <a:rPr sz="2800" dirty="0"/>
              <a:t>Create: </a:t>
            </a:r>
            <a:r>
              <a:rPr sz="2800" dirty="0" err="1"/>
              <a:t>age_exit</a:t>
            </a:r>
            <a:r>
              <a:rPr sz="2800" dirty="0"/>
              <a:t> = </a:t>
            </a:r>
            <a:r>
              <a:rPr sz="2800" dirty="0" err="1"/>
              <a:t>end_date</a:t>
            </a:r>
            <a:r>
              <a:rPr sz="2800" dirty="0"/>
              <a:t> - </a:t>
            </a:r>
            <a:r>
              <a:rPr sz="2800" dirty="0" err="1"/>
              <a:t>date_of_birth</a:t>
            </a:r>
            <a:r>
              <a:rPr sz="2800" dirty="0"/>
              <a:t>; time = </a:t>
            </a:r>
            <a:r>
              <a:rPr sz="2800" dirty="0" err="1"/>
              <a:t>age_exit</a:t>
            </a:r>
            <a:r>
              <a:rPr sz="2800" dirty="0"/>
              <a:t> (in years or days)</a:t>
            </a:r>
          </a:p>
          <a:p>
            <a:pPr>
              <a:defRPr sz="1800"/>
            </a:pPr>
            <a:r>
              <a:rPr sz="2800" dirty="0"/>
              <a:t>Create event = 1 if End type == Death else 0; person-time in years</a:t>
            </a:r>
          </a:p>
          <a:p>
            <a:pPr>
              <a:defRPr sz="1800"/>
            </a:pPr>
            <a:r>
              <a:rPr sz="2800" dirty="0"/>
              <a:t>Define calendar period: year, month-year from </a:t>
            </a:r>
            <a:r>
              <a:rPr sz="2800" dirty="0" err="1"/>
              <a:t>end_date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Mortality </a:t>
            </a:r>
            <a:r>
              <a:rPr lang="en-GB" dirty="0"/>
              <a:t>r</a:t>
            </a:r>
            <a:r>
              <a:rPr dirty="0"/>
              <a:t>ate </a:t>
            </a:r>
            <a:r>
              <a:rPr lang="en-GB" dirty="0"/>
              <a:t>e</a:t>
            </a:r>
            <a:r>
              <a:rPr dirty="0" err="1"/>
              <a:t>xercise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Exercise 1: Compute total deaths, total person-years, crude mortality rate (per 1,000 PY)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Exercise 2: Stratify CMR by sex, age group, and residence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Exercise 3: Produce table and bar chart of age-specific mortality 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Survival </a:t>
            </a:r>
            <a:r>
              <a:rPr lang="en-GB" dirty="0"/>
              <a:t>a</a:t>
            </a:r>
            <a:r>
              <a:rPr dirty="0" err="1"/>
              <a:t>nalysis</a:t>
            </a:r>
            <a:r>
              <a:rPr dirty="0"/>
              <a:t> </a:t>
            </a:r>
            <a:r>
              <a:rPr lang="en-GB" dirty="0"/>
              <a:t>e</a:t>
            </a:r>
            <a:r>
              <a:rPr dirty="0" err="1"/>
              <a:t>xercise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Exercise 4: Create time and event variables; run Kaplan–Meier by sex and residence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Exercise 5: Test differences with log-rank test; report median survival if estimable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Exercise 6: Fit Cox PH model (sex + age + residence); check proportional hazards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  <a:defRPr sz="1800"/>
            </a:pPr>
            <a:endParaRPr lang="en-GB" sz="2800" dirty="0"/>
          </a:p>
          <a:p>
            <a:pPr marL="0" indent="0" algn="ctr">
              <a:buNone/>
              <a:defRPr sz="1800"/>
            </a:pPr>
            <a:endParaRPr lang="en-GB" sz="2800" dirty="0"/>
          </a:p>
          <a:p>
            <a:pPr marL="0" indent="0" algn="ctr">
              <a:buNone/>
              <a:defRPr sz="1800"/>
            </a:pPr>
            <a:endParaRPr lang="en-GB" sz="2800" dirty="0"/>
          </a:p>
          <a:p>
            <a:pPr marL="0" indent="0" algn="ctr">
              <a:buNone/>
              <a:defRPr sz="1800"/>
            </a:pPr>
            <a:r>
              <a:rPr lang="en-GB" sz="6000" dirty="0"/>
              <a:t>Optional</a:t>
            </a:r>
            <a:endParaRPr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0701-2E5A-8E60-5395-64AEDB4C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5DAD-622A-D55D-7C05-5A009AF7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Time </a:t>
            </a:r>
            <a:r>
              <a:rPr lang="en-GB" dirty="0"/>
              <a:t>s</a:t>
            </a:r>
            <a:r>
              <a:rPr dirty="0" err="1"/>
              <a:t>eries</a:t>
            </a:r>
            <a:r>
              <a:rPr dirty="0"/>
              <a:t> </a:t>
            </a:r>
            <a:r>
              <a:rPr lang="en-GB" dirty="0"/>
              <a:t>e</a:t>
            </a:r>
            <a:r>
              <a:rPr dirty="0" err="1"/>
              <a:t>xercise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EDDB3-08E5-5269-463A-1EB80539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Exercise 7: Aggregate deaths and person-time by month-year</a:t>
            </a:r>
            <a:r>
              <a:rPr lang="en-GB" sz="2800" dirty="0"/>
              <a:t>, </a:t>
            </a:r>
            <a:r>
              <a:rPr sz="2800" dirty="0"/>
              <a:t>compute monthly mortality rates</a:t>
            </a:r>
            <a:r>
              <a:rPr lang="en-GB" sz="2800" dirty="0"/>
              <a:t> and plot time series, etc…</a:t>
            </a:r>
          </a:p>
          <a:p>
            <a:pPr marL="0" indent="0">
              <a:buNone/>
              <a:defRPr sz="1800"/>
            </a:pPr>
            <a:endParaRPr sz="28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endParaRPr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6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Multilevel </a:t>
            </a:r>
            <a:r>
              <a:rPr lang="en-GB" dirty="0"/>
              <a:t>a</a:t>
            </a:r>
            <a:r>
              <a:rPr dirty="0" err="1"/>
              <a:t>nalysis</a:t>
            </a:r>
            <a:r>
              <a:rPr dirty="0"/>
              <a:t> </a:t>
            </a:r>
            <a:r>
              <a:rPr lang="en-GB" dirty="0"/>
              <a:t>e</a:t>
            </a:r>
            <a:r>
              <a:rPr dirty="0" err="1"/>
              <a:t>xercise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Exercise </a:t>
            </a:r>
            <a:r>
              <a:rPr lang="en-GB" sz="2800" dirty="0"/>
              <a:t>8 </a:t>
            </a:r>
            <a:r>
              <a:rPr lang="en-GB" sz="2800" b="1" dirty="0"/>
              <a:t>(optional)</a:t>
            </a:r>
            <a:r>
              <a:rPr sz="2800" dirty="0"/>
              <a:t>: Define cluster (residence or smaller unit). Fit two-level random intercept model for death (binary) or Cox model for time-to-event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Cleaned analysis-ready dataset + code </a:t>
            </a:r>
            <a:r>
              <a:rPr lang="en-GB" sz="2800" dirty="0"/>
              <a:t>®</a:t>
            </a:r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Report: mortality tables, KM plots, Cox model output</a:t>
            </a:r>
            <a:endParaRPr lang="en-GB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Short interpretation highlighting main findings and limitations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367</Words>
  <Application>Microsoft Macintosh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Mortality &amp; Survival Analysis Workshop</vt:lpstr>
      <vt:lpstr>Objectives</vt:lpstr>
      <vt:lpstr>Dataset: Key variables</vt:lpstr>
      <vt:lpstr>Data preparation </vt:lpstr>
      <vt:lpstr>Mortality rate exercise</vt:lpstr>
      <vt:lpstr>Survival analysis exercise</vt:lpstr>
      <vt:lpstr>PowerPoint Presentation</vt:lpstr>
      <vt:lpstr>Time series exercise</vt:lpstr>
      <vt:lpstr>Multilevel analysis exercise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Amare Tadesse</cp:lastModifiedBy>
  <cp:revision>2</cp:revision>
  <dcterms:created xsi:type="dcterms:W3CDTF">2013-01-27T09:14:16Z</dcterms:created>
  <dcterms:modified xsi:type="dcterms:W3CDTF">2025-11-17T12:48:12Z</dcterms:modified>
  <cp:category/>
</cp:coreProperties>
</file>